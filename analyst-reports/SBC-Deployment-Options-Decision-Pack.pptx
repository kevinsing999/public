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Direct Routing: Microsoft Teams feature connecting to PSTN via SBC</a:t>
            </a:r>
          </a:p>
          <a:p>
            <a:r>
              <a:t>- Mediant VE: AudioCodes virtual SBC appliance for cloud/hypervisor deployment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ec2:ReplaceRoute: AWS API action to modify a VPC route table entry</a:t>
            </a:r>
          </a:p>
          <a:p>
            <a:r>
              <a:t>- ec2:AssociateAddress: AWS API action to assign an Elastic IP to an instance</a:t>
            </a:r>
          </a:p>
          <a:p>
            <a:r>
              <a:t>- CloudTrail: AWS service recording API calls for auditing</a:t>
            </a:r>
          </a:p>
          <a:p>
            <a:r>
              <a:t>- ARN: Amazon Resource Name - unique identifier for AWS resources</a:t>
            </a:r>
          </a:p>
          <a:p>
            <a:r>
              <a:t>- Route Table: AWS networking construct directing traffic between subnets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EventBridge: AWS serverless event bus for routing events to targets</a:t>
            </a:r>
          </a:p>
          <a:p>
            <a:r>
              <a:t>- Lambda: AWS serverless compute service that runs code in response to events</a:t>
            </a:r>
          </a:p>
          <a:p>
            <a:r>
              <a:t>- SSM Parameter Store: AWS service for storing configuration data and secrets</a:t>
            </a:r>
          </a:p>
          <a:p>
            <a:r>
              <a:t>- CloudWatch: AWS monitoring and observability service</a:t>
            </a:r>
          </a:p>
          <a:p>
            <a:r>
              <a:t>- SNS: Simple Notification Service - AWS managed messaging service</a:t>
            </a:r>
          </a:p>
          <a:p>
            <a:r>
              <a:t>- Provisioned Concurrency: Lambda feature eliminating cold start latency</a:t>
            </a:r>
          </a:p>
          <a:p>
            <a:r>
              <a:t>- AWS Config: Service for assessing, auditing, and evaluating AWS resource configurations</a:t>
            </a:r>
          </a:p>
          <a:p>
            <a:r>
              <a:t>- VPC Flow Logs: Feature capturing IP traffic information for VPC network interfaces</a:t>
            </a:r>
          </a:p>
          <a:p>
            <a:r>
              <a:t>- Stack Manager: AudioCodes management VM for deploying SBC HA stacks via CloudFormation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CloudFormation: AWS infrastructure-as-code service for provisioning resources</a:t>
            </a:r>
          </a:p>
          <a:p>
            <a:r>
              <a:t>- Stack Manager: AudioCodes management VM required for HA deployment (not standalone)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DNS Failover: Using DNS record changes to redirect traffic to a backup system</a:t>
            </a:r>
          </a:p>
          <a:p>
            <a:r>
              <a:t>- Configuration Drift: Divergence between configurations of systems meant to be identical</a:t>
            </a:r>
          </a:p>
          <a:p>
            <a:r>
              <a:t>- Teams DR Priority/Weight: Microsoft Teams Direct Routing settings controlling SBC preference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Mediant 800/1000/2600: AudioCodes physical SBC appliance models</a:t>
            </a:r>
          </a:p>
          <a:p>
            <a:r>
              <a:t>- Rack-and-Stack: Physical installation of hardware in a data centre rack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Mediant VE: AudioCodes Mediant Virtual Edition - software SBC for hypervisors</a:t>
            </a:r>
          </a:p>
          <a:p>
            <a:r>
              <a:t>- Hypervisor: Software creating and managing virtual machines (VMware, Hyper-V, KVM)</a:t>
            </a:r>
          </a:p>
          <a:p>
            <a:r>
              <a:t>- KVM: Kernel-based Virtual Machine - Linux virtualisation technology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Configuration Drift: Divergence between configurations of systems meant to be identical</a:t>
            </a:r>
          </a:p>
          <a:p>
            <a:r>
              <a:t>- Cloud-first: Organisational strategy prioritising cloud over on-premises deployment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 OF TERMS:</a:t>
            </a:r>
          </a:p>
          <a:p>
            <a:r>
              <a:t>- SBC: Session Border Controller - network device managing VoIP sessions at network boundaries</a:t>
            </a:r>
          </a:p>
          <a:p>
            <a:r>
              <a:t>- HA: High Availability - architecture eliminating single points of failure</a:t>
            </a:r>
          </a:p>
          <a:p>
            <a:r>
              <a:t>- VIP: Virtual IP - floating IP address that moves between HA pair members during failover</a:t>
            </a:r>
          </a:p>
          <a:p>
            <a:r>
              <a:t>- EIP: Elastic IP - AWS static public IP address</a:t>
            </a:r>
          </a:p>
          <a:p>
            <a:r>
              <a:t>- IAM: Identity and Access Management - AWS permission and access control framework</a:t>
            </a:r>
          </a:p>
          <a:p>
            <a:r>
              <a:t>- VPC: Virtual Private Cloud - isolated virtual network in AWS</a:t>
            </a:r>
          </a:p>
          <a:p>
            <a:r>
              <a:t>- ENI: Elastic Network Interface - virtual network card attached to an EC2 instance</a:t>
            </a:r>
          </a:p>
          <a:p>
            <a:r>
              <a:t>- AZ: Availability Zone - physically separate data centre within an AWS region</a:t>
            </a:r>
          </a:p>
          <a:p>
            <a:r>
              <a:t>- VRRP: Virtual Router Redundancy Protocol - standard protocol for automatic IP failover</a:t>
            </a:r>
          </a:p>
          <a:p>
            <a:r>
              <a:t>- RTO: Recovery Time Objective - maximum acceptable downtime after a failure</a:t>
            </a:r>
          </a:p>
          <a:p>
            <a:r>
              <a:t>- MSP: Managed Service Provider - third-party IT operations partner</a:t>
            </a:r>
          </a:p>
          <a:p>
            <a:r>
              <a:t>- TTO: Technology Team Operations - internal cloud platform team</a:t>
            </a:r>
          </a:p>
          <a:p>
            <a:r>
              <a:t>- SIP: Session Initiation Protocol - signalling protocol for voice/video sessions</a:t>
            </a:r>
          </a:p>
          <a:p>
            <a:r>
              <a:t>- DNS TTL: Domain Name System Time To Live - cache duration for DNS records</a:t>
            </a:r>
          </a:p>
          <a:p>
            <a:r>
              <a:t>- PSTN: Public Switched Telephone Network - traditional telephone network</a:t>
            </a:r>
          </a:p>
          <a:p>
            <a:r>
              <a:t>- Cloud-first: Organisational strategy prioritising cloud over on-premises deployment</a:t>
            </a:r>
          </a:p>
          <a:p>
            <a:r>
              <a:t>- Go-live: Point at which a system enters production use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AudioCodes SBC 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FBFBF"/>
                </a:solidFill>
                <a:latin typeface="Calibri"/>
              </a:defRPr>
            </a:pPr>
            <a:r>
              <a:t>Decision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BFBF"/>
                </a:solidFill>
                <a:latin typeface="Calibri"/>
              </a:defRPr>
            </a:pPr>
            <a:r>
              <a:t>Microsoft Teams Direct Routing - SBC HA Architecture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BFBF"/>
                </a:solidFill>
                <a:latin typeface="Calibri"/>
              </a:rPr>
              <a:t>Date:  </a:t>
            </a:r>
            <a:r>
              <a:rPr sz="1200" b="0">
                <a:solidFill>
                  <a:srgbClr val="FFFFFF"/>
                </a:solidFill>
                <a:latin typeface="Calibri"/>
              </a:rPr>
              <a:t>5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BFBF"/>
                </a:solidFill>
                <a:latin typeface="Calibri"/>
              </a:rPr>
              <a:t>Audience:  </a:t>
            </a:r>
            <a:r>
              <a:rPr sz="1200" b="0">
                <a:solidFill>
                  <a:srgbClr val="FFFFFF"/>
                </a:solidFill>
                <a:latin typeface="Calibri"/>
              </a:rPr>
              <a:t>IT Manager, Cybersecurity, Cloud Platform, Voice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BFBF"/>
                </a:solidFill>
                <a:latin typeface="Calibri"/>
              </a:rPr>
              <a:t>Source:  </a:t>
            </a:r>
            <a:r>
              <a:rPr sz="1200" b="0">
                <a:solidFill>
                  <a:srgbClr val="FFFFFF"/>
                </a:solidFill>
                <a:latin typeface="Calibri"/>
              </a:rPr>
              <a:t>AudioCodes SBC - Unified Deployment &amp; Configuration Guide v2.6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BFBF"/>
                </a:solidFill>
                <a:latin typeface="Calibri"/>
              </a:rPr>
              <a:t>Purpose:  </a:t>
            </a:r>
            <a:r>
              <a:rPr sz="1200" b="0">
                <a:solidFill>
                  <a:srgbClr val="FFFFFF"/>
                </a:solidFill>
                <a:latin typeface="Calibri"/>
              </a:rPr>
              <a:t>Present five SBC deployment options with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cybersecurity review identified that ec2:ReplaceRoute - the AWS API used by AudioCodes SBCs for internal VIP failover - cannot be scoped to individual route entries. The SBC IAM policy is already at maximum IAM granularity (specific route table ARN + Env tag), but a compromised SBC could still replace any route in that table, not just VIP routes.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Two Failover Paths - Only One Is Affected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283464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Internal (VIP)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External (EIP)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ec2:ReplaceRoute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ec2:AssociateAddress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moves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Route table entry to standby ENI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EIP to standby WAN ENI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Connects 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Downstream SBCs, PBX, SIP providers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Microsoft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scoping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Route table ARN + Env tag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EIP ARN + App + Env tags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Concern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Cannot restrict to specific routes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concern - scoped to single EIP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External EIP path (ec2:AssociateAddress) is not affected - already scoped to specific EIP with dual tag conditions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Exploiting this requires the SBC instance to be compromised first - not an internet-facing attack surface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Blast radius bounded to a single route table in a single tagged environment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AWS has confirmed there are no condition keys for destinationCidrBlock or networkInterfaceId on ReplaceRoute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Option 1 - HA with Retrospective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B57"/>
                </a:solidFill>
                <a:latin typeface="Calibri"/>
              </a:defRPr>
            </a:pPr>
            <a:r>
              <a:t>RECOMMENDED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97680"/>
              </a:tblGrid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1+1 Active/Standby across two AZs - standard AudioCodes HA via Stack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SBC firmware calls AWS APIs directly; VIP + EIP move to standby; 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ec2:ReplaceRoute + ec2:AssociateAddress - both retained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controls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4-layer compensating control architecture (see right)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Exposure 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~7-18 seconds from malicious API call to full automated containment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 cost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~$6/month per region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session/feature licence (single logical SBC) + 2x base VM licences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SBC instances + 1x Stack Manager (t3.medium) per environment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Compensating Controls (4 Layers)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Dedicated VIP route table - only VIP routes in the table; blast radius limited to VIP entries only</a:t>
            </a:r>
          </a:p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EventBridge + Lambda containment gate - validates every ReplaceRoute call; auto-reverts, strips IAM, quarantines, alerts</a:t>
            </a:r>
          </a:p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Scheduled canary Lambda - polls route table every 60s against VIP allowlist; independent backstop</a:t>
            </a:r>
          </a:p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AWS Config + VPC Flow Logs - custom Config rule flags non-VIP entries; Flow Log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Why reactive, not preventive: AudioCodes firmware calls the EC2 API directly during failover - proprietary behaviour that cannot be intercepted</a:t>
            </a:r>
          </a:p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Containment posture: Deny-by-default, fully automated, no human gate. Compromised instance left running in quarantine for forensics</a:t>
            </a:r>
          </a:p>
          <a:p>
            <a:pPr indent="228600" marL="320040">
              <a:spcAft>
                <a:spcPts val="400"/>
              </a:spcAft>
              <a:defRPr sz="9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Cost breakdown: Containment Lambda ~$1, canary ~$1, provisioned concurrency ~$3, CloudWatch logs ~$1, EventBridge/SSM/SNS/SG = free 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Option 2 - Standalone SBC (No 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NOT RECOMMENDED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SBC instance per region - no HA pairing, no VIP, no route table manipulation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- manual recovery (instance restart/replacement)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ec2:ReplaceRoute removed entirely; ec2:AssociateAddress not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controls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- no IAM risk to mitigate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point of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- SBC failure = total voice outage for region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SBC licence per region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SBC instance per region; no Stack Manager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Key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1000" b="1">
                <a:solidFill>
                  <a:srgbClr val="333333"/>
                </a:solidFill>
                <a:latin typeface="Calibri"/>
              </a:defRPr>
              <a:buChar char="•"/>
            </a:pPr>
            <a:r>
              <a:t>TOTAL REBUILD for future HA - most likely required at project completion. Kapila (AudioCodes) confirmed standalone to HA is a complete tear-down and rebuild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Stack Manager must deploy the HA pair from scratch via CloudFormation - cannot retrofit HA onto existing standalone instance</a:t>
            </a:r>
          </a:p>
          <a:p>
            <a:pPr indent="228600" marL="320040">
              <a:spcAft>
                <a:spcPts val="400"/>
              </a:spcAft>
              <a:defRPr sz="1000" b="1">
                <a:solidFill>
                  <a:srgbClr val="333333"/>
                </a:solidFill>
                <a:latin typeface="Calibri"/>
              </a:defRPr>
              <a:buChar char="•"/>
            </a:pPr>
            <a:r>
              <a:t>Recovery time on failure: minutes to hours. Could extend up to a day if the MSP needs to familiarise with a complex SBC recovery procedure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All active calls drop on instance failure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Fastest path to production - but paints the organisation into a corner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Option 3 - Non-Seamless HA (2x Standalone SBCs)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Two independent SBC instances per region - not an AudioCodes HA pair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External: DNS-based, SIP proxy primary/secondary, or Teams DR priority/weight settings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ec2:ReplaceRoute removed entirely; ec2:AssociateAddress removed entirely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controls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- no IAM risk to mitigate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survivability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on primary drop - no session state synchronisation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SBC licence per region (double cost)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SBC instances per region; no Stack Manager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Key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Eliminates all route table and EIP IAM permissions - noted IAM risk not present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HA mechanism does not programmatically manipulate the AWS route table - no concerns with this approach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Failover speed depends on DNS TTL or SIP retry timers - not seamless like true HA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Each SBC maintains independent configuration - risk of configuration drift (ongoing operational burden)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Not an AudioCodes-supported HA pattern - this is a custom resilience design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Requires SIP provider and Microsoft coordination for primary/secondary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Option 4 - On-Premises SBC in HA (Physical)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Calibri"/>
              </a:defRPr>
            </a:pPr>
            <a:r>
              <a:t>ALTERNATIVE FALLBACK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 AudioCodes Mediant appliance (800/1000/2600) with VRRP or native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Traditional HA - VRRP/AudioCodes native; 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- no cloud IAM involved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controls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 security, network ACLs - shifts to physical access domain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survivability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survive (session state synchronised)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appliance licence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 appliance + rack space + power + cooling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Key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Proven HA mechanism with no cloud API dependency - noted IAM risk not present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Against cloud-first strategy - moves voice infrastructure back on-premises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Hardware procurement lead time: weeks to months depending on model and availability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Requires physical data centre presence with rack space, power, cooling, and network connectivity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Ongoing hardware maintenance and lifecycle management (patching, warranty, end-of-life)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Security concerns shift entirely from IAM/cloud to physical access controls and network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Option 5 - On-Premises Virtualised SBC in 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B57"/>
                </a:solidFill>
                <a:latin typeface="Calibri"/>
              </a:defRPr>
            </a:pPr>
            <a:r>
              <a:t>PREFERRED FALLBACK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AudioCodes Mediant VE (Virtual Edition) on existing on-premises hypervisors in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Failover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Traditional HA - VRRP/native AudioCodes HA on hypervisor; 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- no cloud IAM involved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controls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Existing on-premises security controls, hypervisor access controls, network ACLs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survivability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survive (session state synchronised)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Mediant VE software licence (session/feature + base VM)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VMs on existing hypervisors - no new hardware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Key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Same Mediant VE software as the AWS deployment but hosted on existing on-premises hypervisors (VMware, Hyper-V, KVM)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No hardware procurement lead time - uses existing hypervisor capacity, significantly faster than Option 4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No new rack space, power, or cooling required - leverages existing data centre infrastructure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Full AudioCodes HA support - same HA mechanism as Option 4 but virtualised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Noted IAM risk not present - no cloud IAM permissions involved in failover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Against cloud-first strategy - same strategic trade-off as Option 4, but lower capital cost and faster deployment</a:t>
            </a:r>
          </a:p>
          <a:p>
            <a:pPr indent="228600" marL="320040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  <a:buChar char="•"/>
            </a:pPr>
            <a:r>
              <a:t>Dependent on existing hypervisor capacity and availability in required data centre locations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3. Comparison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22960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48256"/>
                <a:gridCol w="2048256"/>
                <a:gridCol w="2048256"/>
                <a:gridCol w="2048256"/>
                <a:gridCol w="2048256"/>
              </a:tblGrid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 1: HA + Guardrails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 2: Standalone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 3: 2x Standalone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 4: On-Prem Physical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 5: On-Prem Virtual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1+1 Active/Standby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External failover (DNS/SIP)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HA (VRRP/native)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HA (VRRP/native)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survivability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calls drop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drop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calls survive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Recovery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Seconds (automatic)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Mins-hours, up to a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Secs-mins (DNS/SIP)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Seconds (automatic)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Seconds (automatic)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risk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7-18s window, 4-layer defence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Noted IAM risk not present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Noted IAM risk not present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Noted IAM risk not present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Noted IAM risk not present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Moderate-high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(fastest)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Variable (hardware)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 - existing infra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session/feature + 2x base VM + ~$6/mo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SBC/region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full SBC/region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Appliance licence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 software licence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Future flexibility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Already at target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rebuild for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Already HA - no concerns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Locked to on-premises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Locked to on-premises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Vendor support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AudioCodes-supported HA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support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pattern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support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AudioCodes-supported HA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Depends on risk appetite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Cloud-first aligned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Timeline to deploy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Fastest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Slowest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Moderate-fast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Options 1, 4 and 5 provide seamless failover with call survivability. Options 2 and 3 do not. Option 2 recovery could extend up to a day if the MSP needs to familiarise with a complex SBC recovery procedure. Choosing standalone (Option 2) now and needing HA later = total rebuild (AudioCodes confirmed).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4.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8B57"/>
                </a:solidFill>
                <a:latin typeface="Calibri"/>
              </a:rPr>
              <a:t>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Option 1 - HA with Retrospective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Delivers target-state HA architecture from day one. Avoids future rebuild risk. Seamless failover with call survivability. 7-18 second exposure window bounded by 4-layer automated defence. Guardrail cost ~$6/month per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8B57"/>
                </a:solidFill>
                <a:latin typeface="Calibri"/>
              </a:rPr>
              <a:t>PREFERRED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Option 5 - On-Premises Virtualised 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If Cyber rejects compensating controls and ec2:ReplaceRoute must be eliminated entirely. Full HA, call survivability, noted IAM risk not present. Uses Mediant VE on existing hypervisors - no hardware procurement. Trade-off: depends on cloud-first commitment.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Calibri"/>
              </a:rPr>
              <a:t>ALTERNATIVE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Option 4 - On-Premises Physical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Same outcome as Option 5 using physical Mediant appliance. Use if hypervisor capacity not available. Slowest to deploy due to hardware procurement and data centre logistics.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FBFBF"/>
                </a:solidFill>
                <a:latin typeface="Calibri"/>
              </a:rPr>
              <a:t>ALSO CONSIDER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Option 3 - 2x Standalone SBCs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43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Removes all IAM permissions. HA mechanism does not manipulate AWS route table. Active calls drop on primary failure. Configuration drift risk - each SBC maintains independent config. Ongoing operational burden.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Calibri"/>
              </a:rPr>
              <a:t>NOT 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Option 2 - Standalone (No HA)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94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Single point of failure. Total rebuild required for future HA (most likely at project completion). Recovery could take up to a day. Paints the organisation into a corner.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Calibri"/>
              </a:defRPr>
            </a:pPr>
            <a:r>
              <a:t>5. Decision Framework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Factors to Score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91440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Question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 appetite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a 7-18s exposure window with automated containment acceptable, or must ReplaceRoute be eliminated entirely?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Voice criticality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acceptable RTO for voice services? Is a single point of failure tolerable?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Cloud-first commitment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cloud-first strategy preclude an on-premises SBC?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vs. rebuild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 risk of a total rebuild later (Option 2) acceptable given timeline pressures?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Cyber's 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formal position on compensating controls (Option 1)?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Timeline pressure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urgently must Direct Routing be in production?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Licensing 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double SBC licensing (Options 1 &amp; 3) within budget?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5B6"/>
                </a:solidFill>
                <a:latin typeface="Calibri"/>
              </a:defRPr>
            </a:pPr>
            <a:r>
              <a:t>Open Questions for the Decision Meeting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6052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686800"/>
                <a:gridCol w="2286000"/>
              </a:tblGrid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formal position on the 7-18s exposure window with 4-layer automated containment?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 compensating control architecture sufficient to close the finding?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Cybersecurity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If Option 1 is rejected, is the position permanent or reviewable after non-prod demonstration?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acceptable RTO for voice services?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 Management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 total rebuild risk (Option 2 to HA) acceptable?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cloud-first strategy rule out Options 4 and 5?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 Management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estimated effort to build the guardrail stack (Option 1)?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 Platform / TTO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the guardrail stack be built and tested in non-prod before a final decision?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 Platform / TTO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regional SIP providers support primary/secondary SBC config (Option 3)?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Voice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there sufficient hypervisor capacity on-premises for Option 5?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 / Voice Eng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hardware lead time for a physical AudioCodes appliance (Option 4)?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Voice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target date for Microsoft Teams Direct Routing go-live?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stakeholders</a:t>
                      </a:r>
                    </a:p>
                  </a:txBody>
                  <a:tcPr anchor="ctr">
                    <a:solidFill>
                      <a:srgbClr val="E8F0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this decision per-region or must it be consistent across all regions?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stakeholders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AudioCodes SBC Deployment Options - Decision Pack</dc:title>
  <dc:subject>Microsoft Teams Direct Routing - SBC HA Architecture Options</dc:subject>
  <dc:creator>Kevin Sing</dc:creator>
  <cp:keywords/>
  <dc:description>generated using python-pptx</dc:description>
  <cp:lastModifiedBy>Kevin Sing</cp:lastModifiedBy>
  <cp:revision>1</cp:revision>
  <dcterms:created xsi:type="dcterms:W3CDTF">2026-03-05T00:00:00Z</dcterms:created>
  <dcterms:modified xsi:type="dcterms:W3CDTF">2026-03-05T00:00:00Z</dcterms:modified>
  <cp:category/>
</cp:coreProperties>
</file>